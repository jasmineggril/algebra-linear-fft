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f73c24cccf46b6" /><Relationship Type="http://schemas.openxmlformats.org/officeDocument/2006/relationships/extended-properties" Target="/docProps/app.xml" Id="Rb7363f5441664dc1" /><Relationship Type="http://schemas.openxmlformats.org/officeDocument/2006/relationships/officeDocument" Target="/ppt/presentation.xml" Id="R3bc1c700648e44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de9a139e49475d"/>
  </p:sldMasterIdLst>
  <p:notesMasterIdLst>
    <p:notesMasterId xmlns:r="http://schemas.openxmlformats.org/officeDocument/2006/relationships" r:id="R3c256aae6adc4b38"/>
  </p:notesMasterIdLst>
  <p:sldIdLst>
    <p:sldId xmlns:r="http://schemas.openxmlformats.org/officeDocument/2006/relationships" id="256" r:id="R0762744f18c14113"/>
    <p:sldId xmlns:r="http://schemas.openxmlformats.org/officeDocument/2006/relationships" id="257" r:id="Rabd239dbda4e4a12"/>
    <p:sldId xmlns:r="http://schemas.openxmlformats.org/officeDocument/2006/relationships" id="258" r:id="R2259cff02eec4ec4"/>
    <p:sldId xmlns:r="http://schemas.openxmlformats.org/officeDocument/2006/relationships" id="259" r:id="R4943d282c1034709"/>
    <p:sldId xmlns:r="http://schemas.openxmlformats.org/officeDocument/2006/relationships" id="260" r:id="R5e517ecede194090"/>
    <p:sldId xmlns:r="http://schemas.openxmlformats.org/officeDocument/2006/relationships" id="261" r:id="Rb2fb177296864615"/>
    <p:sldId xmlns:r="http://schemas.openxmlformats.org/officeDocument/2006/relationships" id="262" r:id="R6c35de0a644746c2"/>
    <p:sldId xmlns:r="http://schemas.openxmlformats.org/officeDocument/2006/relationships" id="263" r:id="R019099c45e52425a"/>
    <p:sldId xmlns:r="http://schemas.openxmlformats.org/officeDocument/2006/relationships" id="264" r:id="R2bc548740a014ea1"/>
    <p:sldId xmlns:r="http://schemas.openxmlformats.org/officeDocument/2006/relationships" id="265" r:id="Rc0fae2bb729c48a5"/>
    <p:sldId xmlns:r="http://schemas.openxmlformats.org/officeDocument/2006/relationships" id="266" r:id="Re358993f02d24e79"/>
    <p:sldId xmlns:r="http://schemas.openxmlformats.org/officeDocument/2006/relationships" id="267" r:id="Ra06a810d1a6b4c80"/>
    <p:sldId xmlns:r="http://schemas.openxmlformats.org/officeDocument/2006/relationships" id="268" r:id="Rf21767ec2cbd4dd6"/>
    <p:sldId xmlns:r="http://schemas.openxmlformats.org/officeDocument/2006/relationships" id="269" r:id="Rc39299b4329242bc"/>
    <p:sldId xmlns:r="http://schemas.openxmlformats.org/officeDocument/2006/relationships" id="270" r:id="R0ac15993fbcf4015"/>
    <p:sldId xmlns:r="http://schemas.openxmlformats.org/officeDocument/2006/relationships" id="271" r:id="R8667d87137dd4e4c"/>
    <p:sldId xmlns:r="http://schemas.openxmlformats.org/officeDocument/2006/relationships" id="272" r:id="R9c0127a96a8b4f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6e2c0d7d4d4190" /><Relationship Type="http://schemas.openxmlformats.org/officeDocument/2006/relationships/slideMaster" Target="/ppt/slideMasters/slideMaster1.xml" Id="Rd1de9a139e49475d" /><Relationship Type="http://schemas.openxmlformats.org/officeDocument/2006/relationships/notesMaster" Target="/ppt/notesMasters/notesMaster1.xml" Id="R3c256aae6adc4b38" /><Relationship Type="http://schemas.openxmlformats.org/officeDocument/2006/relationships/presProps" Target="/ppt/presProps.xml" Id="Ra7b78ec62c4644bd" /><Relationship Type="http://schemas.openxmlformats.org/officeDocument/2006/relationships/tableStyles" Target="/ppt/tableStyles.xml" Id="Rbda86d6f70664d2f" /><Relationship Type="http://schemas.openxmlformats.org/officeDocument/2006/relationships/slide" Target="/ppt/slides/slide1.xml" Id="R0762744f18c14113" /><Relationship Type="http://schemas.openxmlformats.org/officeDocument/2006/relationships/slide" Target="/ppt/slides/slide2.xml" Id="Rabd239dbda4e4a12" /><Relationship Type="http://schemas.openxmlformats.org/officeDocument/2006/relationships/slide" Target="/ppt/slides/slide3.xml" Id="R2259cff02eec4ec4" /><Relationship Type="http://schemas.openxmlformats.org/officeDocument/2006/relationships/slide" Target="/ppt/slides/slide4.xml" Id="R4943d282c1034709" /><Relationship Type="http://schemas.openxmlformats.org/officeDocument/2006/relationships/slide" Target="/ppt/slides/slide5.xml" Id="R5e517ecede194090" /><Relationship Type="http://schemas.openxmlformats.org/officeDocument/2006/relationships/slide" Target="/ppt/slides/slide6.xml" Id="Rb2fb177296864615" /><Relationship Type="http://schemas.openxmlformats.org/officeDocument/2006/relationships/slide" Target="/ppt/slides/slide7.xml" Id="R6c35de0a644746c2" /><Relationship Type="http://schemas.openxmlformats.org/officeDocument/2006/relationships/slide" Target="/ppt/slides/slide8.xml" Id="R019099c45e52425a" /><Relationship Type="http://schemas.openxmlformats.org/officeDocument/2006/relationships/slide" Target="/ppt/slides/slide9.xml" Id="R2bc548740a014ea1" /><Relationship Type="http://schemas.openxmlformats.org/officeDocument/2006/relationships/slide" Target="/ppt/slides/slide10.xml" Id="Rc0fae2bb729c48a5" /><Relationship Type="http://schemas.openxmlformats.org/officeDocument/2006/relationships/slide" Target="/ppt/slides/slide11.xml" Id="Re358993f02d24e79" /><Relationship Type="http://schemas.openxmlformats.org/officeDocument/2006/relationships/slide" Target="/ppt/slides/slide12.xml" Id="Ra06a810d1a6b4c80" /><Relationship Type="http://schemas.openxmlformats.org/officeDocument/2006/relationships/slide" Target="/ppt/slides/slide13.xml" Id="Rf21767ec2cbd4dd6" /><Relationship Type="http://schemas.openxmlformats.org/officeDocument/2006/relationships/slide" Target="/ppt/slides/slide14.xml" Id="Rc39299b4329242bc" /><Relationship Type="http://schemas.openxmlformats.org/officeDocument/2006/relationships/slide" Target="/ppt/slides/slide15.xml" Id="R0ac15993fbcf4015" /><Relationship Type="http://schemas.openxmlformats.org/officeDocument/2006/relationships/slide" Target="/ppt/slides/slide16.xml" Id="R8667d87137dd4e4c" /><Relationship Type="http://schemas.openxmlformats.org/officeDocument/2006/relationships/slide" Target="/ppt/slides/slide17.xml" Id="R9c0127a96a8b4f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6dbd589a9e48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548814b89c4e2b" /><Relationship Type="http://schemas.openxmlformats.org/officeDocument/2006/relationships/notesMaster" Target="/ppt/notesMasters/notesMaster1.xml" Id="R8d84eb0114644f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346a95f6a34b49" /><Relationship Type="http://schemas.openxmlformats.org/officeDocument/2006/relationships/notesMaster" Target="/ppt/notesMasters/notesMaster1.xml" Id="Re650e7f22cc248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edec22159442bf" /><Relationship Type="http://schemas.openxmlformats.org/officeDocument/2006/relationships/notesMaster" Target="/ppt/notesMasters/notesMaster1.xml" Id="Re8f6bc7afde843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fc05334df84884" /><Relationship Type="http://schemas.openxmlformats.org/officeDocument/2006/relationships/notesMaster" Target="/ppt/notesMasters/notesMaster1.xml" Id="Rc01900d6313b4e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3b58f9904e4a14" /><Relationship Type="http://schemas.openxmlformats.org/officeDocument/2006/relationships/notesMaster" Target="/ppt/notesMasters/notesMaster1.xml" Id="Rf2a0cf91348047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afd1103e9242a7" /><Relationship Type="http://schemas.openxmlformats.org/officeDocument/2006/relationships/notesMaster" Target="/ppt/notesMasters/notesMaster1.xml" Id="R9b664321fd244b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adbefb762f4f7b" /><Relationship Type="http://schemas.openxmlformats.org/officeDocument/2006/relationships/notesMaster" Target="/ppt/notesMasters/notesMaster1.xml" Id="R05fbe18b02274f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6f9564aa2d48e5" /><Relationship Type="http://schemas.openxmlformats.org/officeDocument/2006/relationships/notesMaster" Target="/ppt/notesMasters/notesMaster1.xml" Id="Ree2b2a171d454b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4c519ac9df4467" /><Relationship Type="http://schemas.openxmlformats.org/officeDocument/2006/relationships/notesMaster" Target="/ppt/notesMasters/notesMaster1.xml" Id="R41f9a7ebfdf749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cd111175574a66" /><Relationship Type="http://schemas.openxmlformats.org/officeDocument/2006/relationships/notesMaster" Target="/ppt/notesMasters/notesMaster1.xml" Id="Rccecafe86a0c49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5c5171c023497d" /><Relationship Type="http://schemas.openxmlformats.org/officeDocument/2006/relationships/notesMaster" Target="/ppt/notesMasters/notesMaster1.xml" Id="Rdc899e6f28594d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59da5a62f64bd6" /><Relationship Type="http://schemas.openxmlformats.org/officeDocument/2006/relationships/notesMaster" Target="/ppt/notesMasters/notesMaster1.xml" Id="R07775d5dbc3c41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5a714f4c6b43ed" /><Relationship Type="http://schemas.openxmlformats.org/officeDocument/2006/relationships/notesMaster" Target="/ppt/notesMasters/notesMaster1.xml" Id="Reae3cfab821a47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961b482ef34950" /><Relationship Type="http://schemas.openxmlformats.org/officeDocument/2006/relationships/notesMaster" Target="/ppt/notesMasters/notesMaster1.xml" Id="R7a6457ac54bf41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2c255b8b144d98" /><Relationship Type="http://schemas.openxmlformats.org/officeDocument/2006/relationships/notesMaster" Target="/ppt/notesMasters/notesMaster1.xml" Id="R40fe0e1d239a4e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cf6bd0cc1f449a" /><Relationship Type="http://schemas.openxmlformats.org/officeDocument/2006/relationships/notesMaster" Target="/ppt/notesMasters/notesMaster1.xml" Id="Rf17f89e866554af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3539c802f84c18" /><Relationship Type="http://schemas.openxmlformats.org/officeDocument/2006/relationships/notesMaster" Target="/ppt/notesMasters/notesMaster1.xml" Id="Ref3c8f039d4942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Estevão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Apresente o tema e explique que a DFT pode ser vista como uma transformação linear em Cⁿ. Antecipe a divisão: fundamentos, algoritmo e aplicações. Destaque que a FFT calcula a mesma DFT com menor custo computacional.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para este slide:</a:t>
            </a:r>
          </a:p>
          <a:p xmlns:a="http://schemas.openxmlformats.org/drawingml/2006/main">
            <a:r>
              <a:t>https://numpy.org/doc/stable/reference/routines.fft.html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Estevão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Explique que um sinal digital com N amostras forma um vetor. A base canônica descreve amplitudes no tempo. A base de Fourier reorganiza a mesma informação em frequências. Essa é uma mudança de coordenadas em dimensão finita.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Estevão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Mostre que as raízes da unidade ficam igualmente distribuídas no círculo complexo. A soma vetorial fecha um polígono regular quando k é diferente de l, produzindo zero. Isso garante a ortogonalidade dos vetores de Fourier.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para este slide:</a:t>
            </a:r>
          </a:p>
          <a:p xmlns:a="http://schemas.openxmlformats.org/drawingml/2006/main">
            <a:r>
              <a:t>https://numpy.org/doc/stable/reference/routines.fft.html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Estevão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Apresente Fₙ como uma matriz de Vandermonde. Cada saída Xₖ resulta do produto entre uma linha da matriz e o vetor do sinal. No exemplo F₄, as potências de −i geram apenas 1, −i, −1 e 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Estevão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Explique que a matriz normalizada é unitária, portanto preserva norma. A inversa não exige eliminação gaussiana. Em seguida, apresente o problema: multiplicar uma matriz densa N por N por um vetor custa ordem N².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Francisco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Separe a soma da DFT em termos de índices pares e ímpares. Use ωₙ² = ωₙ⁄₂ para mostrar que surgem duas DFTs menores. A recombinação usa o mesmo par Eₖ e Oₖ para produzir duas saídas.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para este slide:</a:t>
            </a:r>
          </a:p>
          <a:p xmlns:a="http://schemas.openxmlformats.org/drawingml/2006/main">
            <a:r>
              <a:t>https://www.ams.org/journals/mcom/1965-19-090/S0025-5718-1965-0178586-1/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Francisco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Relacione a recursão à fatoração matricial. Pₙ reorganiza os dados. O bloco diagonal aplica duas DFTs menores. Bₙ faz a recombinação. A eficiência vem da estrutura e da reutilização dos cálculos intermediários.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Francisco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Descreva a operação borboleta. Mostre a reversão 001 para 100 no exemplo N=8. Explique que a quantidade de estágios cresce como log₂N e que cada estágio processa ordem N de dados.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Francisco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recorrência para justificar O(N log N). O gráfico mostra contagens teóricas em escala logarítmica, não medições de tempo. Se o grupo executar o benchmark, apresente os tempos em um gráfico separado e identifique o computador utilizado.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Jasmine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Explique a conversão do som em amostras. Uma taxa de 44,1 kHz é comum em áudio digital. A FFT em janelas permite acompanhar frequências ao longo do tempo e construir espectrogramas.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para este slide:</a:t>
            </a:r>
          </a:p>
          <a:p xmlns:a="http://schemas.openxmlformats.org/drawingml/2006/main">
            <a:r>
              <a:t>https://docs.scipy.org/doc/scipy/reference/fft.html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Jasmine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Apresente o exemplo sintético: uma senoide de 440 Hz somada a uma interferência de 4 kHz. A FFT revela dois picos. A máscara H zera a faixa indesejada. A IFFT reconstrói o sinal filtrado. Evite afirmar recuperação perfeita fora desse experimento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Jasmine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imagem em tons de cinza é uma matriz. A separabilidade permite aplicar a transformação às linhas e depois às colunas. Frequências espaciais baixas descrevem variações suaves; frequências altas representam bordas e detalhes.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para este slide:</a:t>
            </a:r>
          </a:p>
          <a:p xmlns:a="http://schemas.openxmlformats.org/drawingml/2006/main">
            <a:r>
              <a:t>https://numpy.org/doc/stable/reference/generated/numpy.fft.fft2.html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Jasmine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Explique que uma máscara elimina ou reduz coeficientes. Um filtro passa-baixa suaviza a imagem, porém também pode apagar bordas. Em compressão, o grupo deve medir a qualidade para percentuais diferentes e não presumir que 90% sempre pode ser descartado.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Jasmine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Corrija uma confusão comum: DCT e FFT são relacionadas, mas diferentes. O JPEG usa DCT. Codecs modernos usam transformações inteiras inspiradas nela. Métodos de correlação por FFT podem estimar deslocamentos, mas não representam todo o processo de compressão de vídeo.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para este slide:</a:t>
            </a:r>
          </a:p>
          <a:p xmlns:a="http://schemas.openxmlformats.org/drawingml/2006/main">
            <a:r>
              <a:t>https://www.itu.int/rec/T-REC-H.264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Grupo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Estevão relaciona FFT e Álgebra Linear. Francisco comenta a importância em comunicações e computação científica. Jasmine explica o espaço k na ressonância magnética e retoma as aplicações em mídia digital.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Jasmine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Apresente a estrutura do repositório como proposta enquanto o código não estiver publicado. Antes da entrega, execute os scripts, documente as dependências e teste o link em uma janela anônima. Só então retire o aviso de publicação pendente.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de fala - Grupo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Retome as três ideias centrais: DFT como transformação linear, FFT como algoritmo de fatoração e aplicações no processamento digital. Agradeça e abra para perguntas. Referências principais: Cooley e Tukey (1965), Oppenheim e Schafer, Van Loan, documentação NumPy/SciPy e recomendação ITU-T H.264.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0248a6a6a4c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90bc5d7951457c" /><Relationship Type="http://schemas.openxmlformats.org/officeDocument/2006/relationships/slideLayout" Target="/ppt/slideLayouts/slideLayout1.xml" Id="R271e4d04fe0549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1e4d04fe0549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63583bf494f69" /><Relationship Type="http://schemas.openxmlformats.org/officeDocument/2006/relationships/notesSlide" Target="/ppt/notesSlides/notesSlide1.xml" Id="R733d867e254841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657c603d6427b" /><Relationship Type="http://schemas.openxmlformats.org/officeDocument/2006/relationships/notesSlide" Target="/ppt/notesSlides/notesSlide2.xml" Id="R96b4773ce0224d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0be42540f45bc" /><Relationship Type="http://schemas.openxmlformats.org/officeDocument/2006/relationships/notesSlide" Target="/ppt/notesSlides/notesSlide3.xml" Id="Rbb91c5bd497840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9f0a60d394f53" /><Relationship Type="http://schemas.openxmlformats.org/officeDocument/2006/relationships/notesSlide" Target="/ppt/notesSlides/notesSlide4.xml" Id="Rbfc7e7b6e21149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5569e84534db3" /><Relationship Type="http://schemas.openxmlformats.org/officeDocument/2006/relationships/notesSlide" Target="/ppt/notesSlides/notesSlide5.xml" Id="R23fbab8e266a49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592bef5574ce6" /><Relationship Type="http://schemas.openxmlformats.org/officeDocument/2006/relationships/notesSlide" Target="/ppt/notesSlides/notesSlide6.xml" Id="R4e8a478bcb1f4e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949e65b3f4495" /><Relationship Type="http://schemas.openxmlformats.org/officeDocument/2006/relationships/notesSlide" Target="/ppt/notesSlides/notesSlide7.xml" Id="Rc718b9d157a14d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dc9fca6d346c9" /><Relationship Type="http://schemas.openxmlformats.org/officeDocument/2006/relationships/notesSlide" Target="/ppt/notesSlides/notesSlide8.xml" Id="R0359025bfb284e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0a063ed6f4fe2" /><Relationship Type="http://schemas.openxmlformats.org/officeDocument/2006/relationships/chart" Target="/ppt/slides/charts/chart1.xml" Id="R422c2502fd014d4d" /><Relationship Type="http://schemas.openxmlformats.org/officeDocument/2006/relationships/notesSlide" Target="/ppt/notesSlides/notesSlide9.xml" Id="R74a19eb5a6a04b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b5687714342a6" /><Relationship Type="http://schemas.openxmlformats.org/officeDocument/2006/relationships/notesSlide" Target="/ppt/notesSlides/notesSlide10.xml" Id="R90af71c68be242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7ad50e3454172" /><Relationship Type="http://schemas.openxmlformats.org/officeDocument/2006/relationships/notesSlide" Target="/ppt/notesSlides/notesSlide11.xml" Id="R8ff762082e7e49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b92222f4448fb" /><Relationship Type="http://schemas.openxmlformats.org/officeDocument/2006/relationships/notesSlide" Target="/ppt/notesSlides/notesSlide12.xml" Id="R63211fc1b90842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64f9fdb4948fa" /><Relationship Type="http://schemas.openxmlformats.org/officeDocument/2006/relationships/notesSlide" Target="/ppt/notesSlides/notesSlide13.xml" Id="Reeaad09dc1dc47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02a479c6c4de8" /><Relationship Type="http://schemas.openxmlformats.org/officeDocument/2006/relationships/notesSlide" Target="/ppt/notesSlides/notesSlide14.xml" Id="R13c9f6a6751143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ec58edf14439a" /><Relationship Type="http://schemas.openxmlformats.org/officeDocument/2006/relationships/notesSlide" Target="/ppt/notesSlides/notesSlide15.xml" Id="R360778da75d044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3df84d1544a33" /><Relationship Type="http://schemas.openxmlformats.org/officeDocument/2006/relationships/notesSlide" Target="/ppt/notesSlides/notesSlide16.xml" Id="R526df990205e40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a3057e70749b5" /><Relationship Type="http://schemas.openxmlformats.org/officeDocument/2006/relationships/notesSlide" Target="/ppt/notesSlides/notesSlide17.xml" Id="R47613bcf530f41e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DFT: N²</c:v>
          </c:tx>
          <c:spPr>
            <a:solidFill xmlns:a="http://schemas.openxmlformats.org/drawingml/2006/main">
              <a:srgbClr val="FF6B7A"/>
            </a:solidFill>
          </c:spPr>
          <c:marker>
            <c:symbol val="none"/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  <c:pt idx="6">
                  <c:v>512</c:v>
                </c:pt>
              </c:numCache>
            </c:num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64</c:v>
                </c:pt>
                <c:pt idx="1">
                  <c:v>256</c:v>
                </c:pt>
                <c:pt idx="2">
                  <c:v>1024</c:v>
                </c:pt>
                <c:pt idx="3">
                  <c:v>4096</c:v>
                </c:pt>
                <c:pt idx="4">
                  <c:v>16384</c:v>
                </c:pt>
                <c:pt idx="5">
                  <c:v>65536</c:v>
                </c:pt>
                <c:pt idx="6">
                  <c:v>262144</c:v>
                </c:pt>
              </c:numCache>
            </c:numRef>
          </c:val>
        </c:ser>
        <c:ser>
          <c:idx val="1"/>
          <c:order val="1"/>
          <c:tx>
            <c:v>FFT: N log₂N</c:v>
          </c:tx>
          <c:spPr>
            <a:solidFill xmlns:a="http://schemas.openxmlformats.org/drawingml/2006/main">
              <a:srgbClr val="42D6A4"/>
            </a:solidFill>
          </c:spPr>
          <c:marker>
            <c:symbol val="none"/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  <c:pt idx="6">
                  <c:v>512</c:v>
                </c:pt>
              </c:numCache>
            </c:numRef>
          </c:cat>
          <c:val>
            <c:numRef>
              <c:f>'Chart Data'!$D$2:$D$8</c:f>
              <c:numCache>
                <c:formatCode>General</c:formatCode>
                <c:ptCount val="7"/>
                <c:pt idx="0">
                  <c:v>24</c:v>
                </c:pt>
                <c:pt idx="1">
                  <c:v>64</c:v>
                </c:pt>
                <c:pt idx="2">
                  <c:v>160</c:v>
                </c:pt>
                <c:pt idx="3">
                  <c:v>384</c:v>
                </c:pt>
                <c:pt idx="4">
                  <c:v>896</c:v>
                </c:pt>
                <c:pt idx="5">
                  <c:v>2048</c:v>
                </c:pt>
                <c:pt idx="6">
                  <c:v>4608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DejaVu Sans"/>
              <a:ea typeface="DejaVu Sans"/>
              <a:cs typeface="DejaVu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85BF6-D682-4A64-8690-D9329750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022F5-1434-49B3-99CD-4830EF2A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ÁLGEBRA LINEAR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8DB24-2275-4B04-B6C4-DE55351C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334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Transformada Rápida</a:t>
            </a:r>
          </a:p>
          <a:p xmlns:a="http://schemas.openxmlformats.org/drawingml/2006/main">
            <a:pPr algn="l">
              <a:defRPr sz="42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de Fourier (FFT)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06E12-EA3B-4CB0-B5CC-30FDC0F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Formulação matricial, fatoração esparsa e aplicações em áudio, imagens e vídeo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DA353-BDF8-4054-A19F-EC249BAF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7239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AF7D6-FB44-4ADB-9760-7E127F0A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685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rPr>
              <a:t>X = Fₙx       O(N²)  →  O(N log₂N)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1D578-BA64-440F-A29D-CC829CC2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904875"/>
            <a:ext cx="762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9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DFCE0-7C49-45B0-9342-1CE6FDDE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24000"/>
            <a:ext cx="219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Estevão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Francisco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Jasmine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03A8A-192C-4079-B8F1-9AA3F167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Universidade do Distrito Federal</a:t>
            </a:r>
          </a:p>
          <a:p xmlns:a="http://schemas.openxmlformats.org/drawingml/2006/main">
            <a:pPr algn="l">
              <a:defRPr sz="1125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Álgebra Linear •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C9606-9B82-4F3C-9B20-9C44DC75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01 / 17</a:t>
            </a:r>
          </a:p>
        </p:txBody>
      </p:sp>
    </p:spTree>
    <p:extLst>
      <p:ext uri="{BB962C8B-B14F-4D97-AF65-F5344CB8AC3E}">
        <p14:creationId xmlns:p14="http://schemas.microsoft.com/office/powerpoint/2010/main" val="1453493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B953D-70FD-4696-8A5F-74CC4A45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DD726-E118-4EB0-BFEE-6F089500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FUNDAMENTOS ALGÉBRICOS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90E1B-CC52-44D0-AB61-A06EE600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Sinais como vetores em Cⁿ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ACFE2-60DA-4454-AF5D-8AC61A01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716C0-026B-4184-90C2-E7D2AE2A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Responsável: Estevão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E1E3E-927E-47AC-A70F-BF3E22CB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02 /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F6035-F1DF-43DF-9880-1D3D412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DOMÍNIO DO TEMPO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A318F-819D-4022-B88B-6A3182C5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Cada amostra ocupa uma coordenada do vetor. A representação mostra quando cada valor ocorreu.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52A55-CCC1-4A85-8E21-797708C3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95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279F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279F7"/>
                </a:solidFill>
                <a:latin typeface="DejaVu Sans"/>
                <a:ea typeface="DejaVu Sans"/>
                <a:cs typeface="DejaVu Sans"/>
              </a:rPr>
              <a:t>DOMÍNIO DA FREQUÊNCIA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736CD-E897-4A7B-A4E0-55D70285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955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41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Cada coordenada mede a contribuição de um modo oscilatório. A representação evidencia periodicidades.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E984F-C305-4AAF-848D-CD1662A3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76400"/>
            <a:ext cx="190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7AA88-4CF6-4453-A063-6CF08160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05250"/>
            <a:ext cx="838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A9F60-8852-4A35-9414-DCCDB7B8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8145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rPr>
              <a:t>x = [x₀  x₁  …  xₙ₋₁]ᵀ ∈ Cⁿ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D983A-FEFA-418D-9321-8D7573C6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838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82F1B-0625-4E9E-9E85-100BE06C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3395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rPr>
              <a:t>x = Σ cₖvₖ       T: Cⁿ → Cⁿ</a:t>
            </a:r>
          </a:p>
        </p:txBody>
      </p:sp>
    </p:spTree>
    <p:extLst>
      <p:ext uri="{BB962C8B-B14F-4D97-AF65-F5344CB8AC3E}">
        <p14:creationId xmlns:p14="http://schemas.microsoft.com/office/powerpoint/2010/main" val="1483981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75383-11EB-4A80-A341-41B9FBB0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7DBCF-D53B-41B2-9A93-15141BCC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GEOMETRIA COMPLEXA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E574D-7036-41C5-94A6-9300877B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Raízes da unidade e ortogonalidade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59821-BEBC-4B48-ACBF-C17C514A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93864-8A59-4409-BDA0-9062246C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Responsável: Estevão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391A9-95D4-4569-9D3C-1B66AB9F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03 /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99E8C-6972-40E3-ADCA-AD2CFE46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AAFEA-05C9-4D73-BAE8-86F3178C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043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rPr>
              <a:t>ωₙ = e⁻ⁱ²π⁄ᴺ = cos(2π/N) − i sen(2π/N)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29997-0C1A-400F-AA21-C8DF8CE3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Raízes da unidade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06EE0-D1E8-4FBD-BF13-2E84EE9D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As potências de ωₙ ocupam pontos igualmente espaçados no círculo unitário.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18EF9-CC20-48A2-AD39-F776C1F7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79F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279F7"/>
                </a:solidFill>
                <a:latin typeface="DejaVu Sans"/>
                <a:ea typeface="DejaVu Sans"/>
                <a:cs typeface="DejaVu Sans"/>
              </a:rPr>
              <a:t>Base de Fourier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61045-7DCF-41AA-BFC3-B5050B5C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vₖ = [1, ωₙᵏ, ωₙ²ᵏ, …, ωₙ⁽ᴺ⁻¹⁾ᵏ]ᵀ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5C97A-8F23-48DA-8866-35972F78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6A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2D6A4"/>
                </a:solidFill>
                <a:latin typeface="DejaVu Sans"/>
                <a:ea typeface="DejaVu Sans"/>
                <a:cs typeface="DejaVu Sans"/>
              </a:rPr>
              <a:t>Ortogonalidade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8A1ED-C92E-4976-A2D4-0C54E9EF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⟨vₖ,vₗ⟩ = N quando k=l</a:t>
            </a:r>
          </a:p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e 0 quando k≠l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F45DE-1431-4DD3-886B-C911AA27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E415A-1EEB-4A0D-AE2A-46B175CB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3870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rPr>
              <a:t>Σⁿ⁻¹ₙ₌₀ (ωₙᵏ⁻ˡ)ⁿ = 0,  para k ≠ l</a:t>
            </a:r>
          </a:p>
        </p:txBody>
      </p:sp>
    </p:spTree>
    <p:extLst>
      <p:ext uri="{BB962C8B-B14F-4D97-AF65-F5344CB8AC3E}">
        <p14:creationId xmlns:p14="http://schemas.microsoft.com/office/powerpoint/2010/main" val="1541753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35DB1E-AC77-4896-85D3-FB91F0F4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90982-80A2-4670-8DDC-5D4AE238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FORMULAÇÃO MATRICIAL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73BCC-90F1-40E3-8781-B948F3F6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 matriz de Fourier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618E1-41D4-4D9B-8A94-42161BAB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27E15-70D7-42CD-B884-10B788C1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Responsável: Estevão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9154C-F71C-46B2-A4D1-083E2C3B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04 /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EC898-FA7B-4C9C-B7AC-653D2635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A DFT é o produto matriz-vetor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8A416-4650-4E21-8137-66F0F8C0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37191-F489-49D4-AD41-3B088B6C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1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rPr>
              <a:t>X = Fₙx        [Fₙ]ₖ,ₙ = ωₙᵏⁿ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4F9AF-ABAB-482D-BCFF-4B03A42A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Cada linha compara o sinal com uma frequência discreta. A matriz é uma Vandermonde simétrica.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8E520-73BC-4B6A-9333-0F9D05BB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279F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B279F7"/>
                </a:solidFill>
                <a:latin typeface="DejaVu Sans"/>
                <a:ea typeface="DejaVu Sans"/>
                <a:cs typeface="DejaVu Sans"/>
              </a:rPr>
              <a:t>Exemplo para N =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1DDFB-B961-4DF3-B567-9D2CD2E9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8387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6ADE2-5ECB-4BCE-B628-C16D1EC3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45770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rPr>
              <a:t>F₄ =  ⎡1   1   1   1⎤</a:t>
            </a:r>
          </a:p>
          <a:p xmlns:a="http://schemas.openxmlformats.org/drawingml/2006/main">
            <a:pPr algn="ctr">
              <a:defRPr sz="1875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rPr>
              <a:t>      ⎢1  −i  −1   i⎥</a:t>
            </a:r>
          </a:p>
          <a:p xmlns:a="http://schemas.openxmlformats.org/drawingml/2006/main">
            <a:pPr algn="ctr">
              <a:defRPr sz="1875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rPr>
              <a:t>      ⎢1  −1   1  −1⎥</a:t>
            </a:r>
          </a:p>
          <a:p xmlns:a="http://schemas.openxmlformats.org/drawingml/2006/main">
            <a:pPr algn="ctr">
              <a:defRPr sz="1875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rPr>
              <a:t>      ⎣1   i  −1  −i⎦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5060A-1493-4686-AC9D-80E7B993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ω₄ = −i</a:t>
            </a:r>
          </a:p>
        </p:txBody>
      </p:sp>
    </p:spTree>
    <p:extLst>
      <p:ext uri="{BB962C8B-B14F-4D97-AF65-F5344CB8AC3E}">
        <p14:creationId xmlns:p14="http://schemas.microsoft.com/office/powerpoint/2010/main" val="154061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C73F5-0AB3-47B0-B630-6C894126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030B7-7589-4F76-B1C5-EBB7039B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PROPRIEDADES E LIMITAÇÕES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21554-CC19-423D-9F78-0CCDF341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Unitariedade e custo da DFT direta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031C3-F7E7-4BEB-BB3D-E84E090F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E0670-B0C0-492C-85C5-BF292343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Responsável: Estevão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68C1C-8CC9-49E3-A40F-0E9C7C0E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05 /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320E2-437D-4726-9FD1-77AA2E9C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0F261-84DC-4D17-B72C-2A227A0B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43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rPr>
              <a:t>Fₙ*Fₙ = N Iₙ        Fₙ⁻¹ = (1/N)Fₙ*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1DC7A-38E6-486D-BA25-ACD8AE7A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334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• A versão normalizada Uₙ = Fₙ/√N é unitária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• A inversa usa a transposta conjugada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• Parseval relaciona a energia nos dois domínios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63634-E796-4F68-920A-7967A9E2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48387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251523"/>
          </a:solidFill>
          <a:ln xmlns:a="http://schemas.openxmlformats.org/drawingml/2006/main" w="9525">
            <a:solidFill>
              <a:srgbClr val="FF6B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8BC29-6C65-4BDE-A1E6-A4445171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4325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6B7A"/>
                </a:solidFill>
                <a:latin typeface="DejaVu Sans"/>
                <a:ea typeface="DejaVu Sans"/>
                <a:cs typeface="DejaVu Sans"/>
              </a:rPr>
              <a:t>DFT DIRETA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8FFA2-91CB-41D2-8702-1B39C421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5760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N saídas × N produtos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BBE1E-9D81-4301-AAAA-BFD507CE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38625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72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1"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Complexidade O(N²)</a:t>
            </a:r>
          </a:p>
        </p:txBody>
      </p:sp>
    </p:spTree>
    <p:extLst>
      <p:ext uri="{BB962C8B-B14F-4D97-AF65-F5344CB8AC3E}">
        <p14:creationId xmlns:p14="http://schemas.microsoft.com/office/powerpoint/2010/main" val="16081152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7E6DA-8D26-4ADF-9068-AE0422CE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DB5EC-914F-4C9F-8957-ECD634E8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DIVIDIR PARA CONQUISTAR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8F8ED-8363-431C-8417-5592CB85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 decomposição de Cooley-Tukey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6D31F-99B1-4A2D-9FDD-29DA5B77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82293-60A7-4387-8E17-8254686D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Responsável: Francisco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17CBF-DA3A-4759-A71E-BB0F3365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06 /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764A7-83A2-4346-B7A7-6848B9C1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C301C-C06E-4135-AD18-7450B378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669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Separar índices pares e ímpares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95242-EDF0-429E-90DE-BA67B7CD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B279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B279F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EB05C-36ED-4342-B752-3634A72A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Calcular duas DFTs de tamanho N/2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04404-621D-4338-9F37-9B0097C2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2D6A4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42D6A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FD602-7B8F-4AD6-BC9C-2D1094E7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481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Recombinar com fatores de rotação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98FAF-25E0-44B6-92C1-19ACDAE0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72050"/>
            <a:ext cx="8953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B80F6-0B16-43A0-9558-F47E4AF2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1"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Xₖ = Eₖ + ωₙᵏOₖ      Xₖ₊ₙ⁄₂ = Eₖ − ωₙᵏOₖ</a:t>
            </a:r>
          </a:p>
        </p:txBody>
      </p:sp>
    </p:spTree>
    <p:extLst>
      <p:ext uri="{BB962C8B-B14F-4D97-AF65-F5344CB8AC3E}">
        <p14:creationId xmlns:p14="http://schemas.microsoft.com/office/powerpoint/2010/main" val="8793235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87601-BB6D-4E43-AD87-20585FFF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27D3C-52D3-455B-901A-AE204D22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ÁLGEBRA LINEAR DA FFT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26510-33C0-4978-A339-3EAAF04B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Fatoração em matrizes estruturadas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D5881-C9C8-46E7-B994-10E1550A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D65B6-539B-4975-BDCA-E86EFBE8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Responsável: Francisco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ABDFE-2855-4D1D-A068-D6BE16AB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07 /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66D5B-D57F-471C-93AF-264555CE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E5905-AC81-4936-99EA-FD8A593C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439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rPr>
              <a:t>Fₙ = Bₙ · diag(Fₙ⁄₂,Fₙ⁄₂) · Pₙ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3C6B9-8A40-4134-BB0B-39AB3E72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CC9F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1">
                <a:solidFill>
                  <a:srgbClr val="4CC9F0"/>
                </a:solidFill>
                <a:latin typeface="DejaVu Sans Mono"/>
                <a:ea typeface="DejaVu Sans Mono"/>
                <a:cs typeface="DejaVu Sans Mono"/>
              </a:rPr>
              <a:t>Pₙ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03FC4-0C93-4962-98F5-C40F5CE4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6705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Permuta o vetor para agrupar pares e ímpares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3F9E2-BFA7-4C72-8C27-D82B9539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279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B279F7"/>
                </a:solidFill>
                <a:latin typeface="DejaVu Sans Mono"/>
                <a:ea typeface="DejaVu Sans Mono"/>
                <a:cs typeface="DejaVu Sans Mono"/>
              </a:rPr>
              <a:t>diag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4B40D-5C9C-46C9-A406-ABF5F81A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86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Aplica duas transformadas menores sem acoplamento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FD87F-1D40-43FB-A60D-D6284EF5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rPr>
              <a:t>Bₙ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36E7C-DC79-4ED3-8972-5C932604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0535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Recombina os resultados com fatores de rotação</a:t>
            </a:r>
          </a:p>
        </p:txBody>
      </p:sp>
    </p:spTree>
    <p:extLst>
      <p:ext uri="{BB962C8B-B14F-4D97-AF65-F5344CB8AC3E}">
        <p14:creationId xmlns:p14="http://schemas.microsoft.com/office/powerpoint/2010/main" val="1898221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9AAC6-EABB-4825-91DE-50F2CB8C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3E267-2F18-4EFA-B0FD-770B810D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ESTRUTURA COMPUTACIONAL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FC2F2-4703-40D2-87F3-1351C0DE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Operação borboleta e reversão de bits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582BC-A495-4CB6-AF21-AC206903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8D72C-D64A-49A2-8EF0-837655E5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Responsável: Francisco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741AE-69E7-4071-A99B-4124C527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08 /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4FBBF-9B05-454C-9718-29A64C0E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B2F51-C8F8-46B4-B7FA-81D888C9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4762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rPr>
              <a:t>yₖ = uₖ + ωₙᵏvₖ</a:t>
            </a:r>
          </a:p>
          <a:p xmlns:a="http://schemas.openxmlformats.org/drawingml/2006/main">
            <a:pPr algn="ctr">
              <a:defRPr sz="217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rPr>
              <a:t>yₖ₊ₙ⁄₂ = uₖ − ωₙᵏvₖ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BBD56-6904-4CF8-B647-C8AD1CBD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BORBOLETA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FD810-C913-46E0-A232-4A30D746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68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Uma multiplicação complexa, uma soma e uma subtração produzem duas saídas.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C1CFB-2D72-43A7-9A76-40E268C6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83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279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279F7"/>
                </a:solidFill>
                <a:latin typeface="DejaVu Sans"/>
                <a:ea typeface="DejaVu Sans"/>
                <a:cs typeface="DejaVu Sans"/>
              </a:rPr>
              <a:t>REVERSÃO DE BITS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64914-84F4-4E8B-A715-88B711D1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48387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5613F-2582-4FC6-B42F-D08CCBC0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4457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rPr>
              <a:t>001₂  →  100₂</a:t>
            </a:r>
          </a:p>
          <a:p xmlns:a="http://schemas.openxmlformats.org/drawingml/2006/main">
            <a:pPr algn="ctr">
              <a:defRPr sz="2100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rPr>
              <a:t> índice 1  →  índice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D7948-687B-4B46-9BBF-AB0B4924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83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Para N = 2ᵐ, a FFT possui m = log₂N estágios.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002B8-B758-4A08-91CE-359C9AB7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76800"/>
            <a:ext cx="48387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55515-2BC2-43EC-9BAB-89F38C7A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Fₙ = BₘBₘ₋₁ … B₁Pₙ</a:t>
            </a:r>
          </a:p>
        </p:txBody>
      </p:sp>
    </p:spTree>
    <p:extLst>
      <p:ext uri="{BB962C8B-B14F-4D97-AF65-F5344CB8AC3E}">
        <p14:creationId xmlns:p14="http://schemas.microsoft.com/office/powerpoint/2010/main" val="15719989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B347A-CFB4-44E9-A0F6-C59389AF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32363-FE49-4C33-97C8-8A585CA2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DFT DIRETA VERSUS FFT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DBE5E-A912-4C6A-8988-EDEBF54C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Complexidade assintótica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54C1D-9FD1-440D-9E3E-07C9891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D9E9B-7237-4E66-9A2B-42CBA4BD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Responsável: Francisco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FBC76-45EA-47CA-9116-64BE50DB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09 / 17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6953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2c2502fd014d4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68A19-51CD-44CB-B50C-4F69ECF8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409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980CE-E2BD-4F2F-AA62-0233E6C0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28825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rPr>
              <a:t>T(N)=2T(N/2)+O(N)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976BA-CF40-4CE7-A603-4D62C822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409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9095B-0016-49C5-A50F-39D332F7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rPr>
              <a:t>T(N)=O(N log₂N)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7E890-AF1E-47B9-9460-4540A51E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3409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O gráfico compara contagens teóricas. Resultados de tempo dependem do hardware e da implementação.</a:t>
            </a:r>
          </a:p>
        </p:txBody>
      </p:sp>
    </p:spTree>
    <p:extLst>
      <p:ext uri="{BB962C8B-B14F-4D97-AF65-F5344CB8AC3E}">
        <p14:creationId xmlns:p14="http://schemas.microsoft.com/office/powerpoint/2010/main" val="10691913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04B9F-E2ED-41BA-AC79-DBEE00D1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1D785-8DC5-4DB7-A3E7-150E482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APLICAÇÃO EM ÁUDIO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A8A2C-5C9E-4209-A194-14AF79ED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Áudio como sinal unidimensional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8530D-FC2E-4A5F-8E91-FDA3EEFA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EE6DB-CE01-4CE9-B787-BDDB97E6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Responsável: Jasmine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C1046-B2E5-4F98-BF01-313CE32F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10 /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31569-0845-4D84-9A71-E86F7EA3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AMOSTRAGEM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26A5E-09BE-4F7D-897E-886CE22C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Uma taxa comum de 44,1 kHz registra 44.100 amostras por segundo.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95800-E1F9-4098-8D67-3A7FBDEE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95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7E02D-8B67-45B8-9746-FC9FEEF0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rPr>
              <a:t>fₖ = k fₛ / 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F3C1F-DC0E-45AE-92E3-C3196781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531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79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279F7"/>
                </a:solidFill>
                <a:latin typeface="DejaVu Sans"/>
                <a:ea typeface="DejaVu Sans"/>
                <a:cs typeface="DejaVu Sans"/>
              </a:rPr>
              <a:t>ANÁLISE EM JANELAS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011FC-2918-49F9-AB4B-379547D8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314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 STFT aplica FFTs sucessivas a pequenos trechos. O resultado descreve como o espectro varia no tempo.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12096-729D-4B42-AA2B-995846FE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8A7C20-B975-4C0A-B217-C7C6184E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493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4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7C83FD"/>
                </a:solidFill>
                <a:latin typeface="DejaVu Sans Mono"/>
                <a:ea typeface="DejaVu Sans Mono"/>
                <a:cs typeface="DejaVu Sans Mono"/>
              </a:rPr>
              <a:t>sinal → janelas → FFT → espectrograma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619C4-F7F3-499E-8781-B5CFA57C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Equalização, detecção de tons e redução de ruído usam informações espectrais.</a:t>
            </a:r>
          </a:p>
        </p:txBody>
      </p:sp>
    </p:spTree>
    <p:extLst>
      <p:ext uri="{BB962C8B-B14F-4D97-AF65-F5344CB8AC3E}">
        <p14:creationId xmlns:p14="http://schemas.microsoft.com/office/powerpoint/2010/main" val="4207958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C978EF-CBD4-4678-BB4C-A57BEF95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F6CF8-C0AF-4F26-BE15-A58A8898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FFT E TRANSFORMADA INVERSA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6A03E-526F-4182-BD9F-1D90F77D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Filtragem espectral de áudio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69B0A-675B-45CC-A7D2-9D190AF3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B2E25-8E0B-4223-BF7E-25412F53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Responsável: Jasmine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493A8-1C62-413C-BFDE-3807F922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11 /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7BC41-C604-4829-9D97-F779FEC1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9E578-60C6-4B67-8868-2B012980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21050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SINAL</a:t>
            </a:r>
          </a:p>
          <a:p xmlns:a="http://schemas.openxmlformats.org/drawingml/2006/main">
            <a:pPr algn="ctr">
              <a:def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440 Hz + 4 kHz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46882-078E-4714-ACEA-030A104E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669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58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C83F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7C83FD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CAAE5-F32F-409D-9A24-4AD0C3E3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5262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914DA-99D1-4CE7-BD18-07684730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14550"/>
            <a:ext cx="21050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FFT</a:t>
            </a:r>
          </a:p>
          <a:p xmlns:a="http://schemas.openxmlformats.org/drawingml/2006/main">
            <a:pPr algn="ctr">
              <a:def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Espectro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D8253-7A4B-40E8-B980-B24857EC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58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C83F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7C83FD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0E16A-24ED-487C-9C8C-0B6D4611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8293B"/>
          </a:solidFill>
          <a:ln xmlns:a="http://schemas.openxmlformats.org/drawingml/2006/main" w="9525">
            <a:solidFill>
              <a:srgbClr val="42D6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7EBB2-2675-4336-8964-0088F158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21050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2D6A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2D6A4"/>
                </a:solidFill>
                <a:latin typeface="DejaVu Sans"/>
                <a:ea typeface="DejaVu Sans"/>
                <a:cs typeface="DejaVu Sans"/>
              </a:rPr>
              <a:t>FILTRO</a:t>
            </a:r>
          </a:p>
          <a:p xmlns:a="http://schemas.openxmlformats.org/drawingml/2006/main">
            <a:pPr algn="ctr">
              <a:defRPr sz="1650" b="1">
                <a:solidFill>
                  <a:srgbClr val="42D6A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2D6A4"/>
                </a:solidFill>
                <a:latin typeface="DejaVu Sans"/>
                <a:ea typeface="DejaVu Sans"/>
                <a:cs typeface="DejaVu Sans"/>
              </a:rPr>
              <a:t>H diagonal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07AE5-170B-4C15-BB06-AA9A8FCF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58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C83F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7C83FD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00A98-FC30-4B95-A92E-AF29ED43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5262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9FF0B-4D10-4E38-9B35-5595884B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21050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8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IFFT</a:t>
            </a:r>
          </a:p>
          <a:p xmlns:a="http://schemas.openxmlformats.org/drawingml/2006/main">
            <a:pPr algn="ctr">
              <a:def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Sinal recuperado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E32F8-B2E9-4D5A-8937-D8AC1FCE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857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049FC-A77A-493A-B006-DE8FAD5C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09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1"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x_f = (1/N)Fₙ* [ H · (Fₙx) 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94CC7-2D5B-4722-B2E7-65536B51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No exemplo controlado, o filtro remove a componente de 4 kHz. A reconstrução preserva a componente de 440 Hz, salvo erro numérico.</a:t>
            </a:r>
          </a:p>
        </p:txBody>
      </p:sp>
    </p:spTree>
    <p:extLst>
      <p:ext uri="{BB962C8B-B14F-4D97-AF65-F5344CB8AC3E}">
        <p14:creationId xmlns:p14="http://schemas.microsoft.com/office/powerpoint/2010/main" val="13896035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B9D95-0210-4E39-BDB9-0A7DFB32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D04B7-6D7F-40DC-982C-7A806809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APLICAÇÃO EM IMAGENS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6E007-54DB-4B44-815F-87401A30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Transformada bidimensional em imagens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B4E26-D2C8-4279-92F0-DE282161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1BC54-BF47-4982-A808-BD547DC9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Responsável: Jasmine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9AED0-68DC-42BB-BD8A-A588E37E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12 /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401D8-16C1-4DF6-A87F-A61DCD9F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Imagem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A10A1-6A07-4161-87CE-9D83A3EF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DE13A-8CA9-4AC9-BD97-BCC10C70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A ∈ Rᴹˣᴺ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3AD9C-E09E-41C2-BCE2-A21ABFAF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279F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B279F7"/>
                </a:solidFill>
                <a:latin typeface="DejaVu Sans"/>
                <a:ea typeface="DejaVu Sans"/>
                <a:cs typeface="DejaVu Sans"/>
              </a:rPr>
              <a:t>FFT nas linhas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25A9E-BD23-42FB-A2B9-B8B94123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33625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B9183-6CC6-463C-A040-823D444A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982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Fᴹ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60BA0-FC6D-4E67-9611-C3542A71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695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2D6A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2D6A4"/>
                </a:solidFill>
                <a:latin typeface="DejaVu Sans"/>
                <a:ea typeface="DejaVu Sans"/>
                <a:cs typeface="DejaVu Sans"/>
              </a:rPr>
              <a:t>FFT nas colunas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62E36-4014-43C8-90A7-D84095D4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33625"/>
            <a:ext cx="36957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03D5F-4A1A-49DD-8F73-A938692A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9825"/>
            <a:ext cx="331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Â = Fᴹ A Fᴺᵀ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D89F0-B5F4-41F9-9D75-40F8402F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Baixas frequências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65FBC-4CBD-426B-B194-8590AABD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Áreas suaves e variações lentas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33657-33AD-4BB6-AE96-8026DCC4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48125"/>
            <a:ext cx="483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6B7A"/>
                </a:solidFill>
                <a:latin typeface="DejaVu Sans"/>
                <a:ea typeface="DejaVu Sans"/>
                <a:cs typeface="DejaVu Sans"/>
              </a:rPr>
              <a:t>Altas frequências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54675-28A0-4F64-90C0-8D94B610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483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Bordas, detalhes finos e parte do ruído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A3534D-C4E9-4436-BD26-421F6EFC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34000"/>
            <a:ext cx="685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661F1-3915-4DC3-8664-46266AA6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1020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rPr>
              <a:t>Complexidade: O(MN log(MN))</a:t>
            </a:r>
          </a:p>
        </p:txBody>
      </p:sp>
    </p:spTree>
    <p:extLst>
      <p:ext uri="{BB962C8B-B14F-4D97-AF65-F5344CB8AC3E}">
        <p14:creationId xmlns:p14="http://schemas.microsoft.com/office/powerpoint/2010/main" val="2921967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FFA34-1085-48BD-B618-75D96A79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5C1AF-E3C9-4A42-A538-C39B09F2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COEFICIENTES DA 2D-FFT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301E4-FBD6-4861-86D2-9BBC46E6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Filtragem e compressão de imagens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F1196-95F9-4213-82CC-7E57014F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2B622-B07F-4187-BE5C-98C67280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Responsável: Jasmine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98D3C-E625-4775-89D0-86848C42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13 /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9BEB9-AB15-4672-9B6A-A8118B8F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E60BB-ED68-4C5C-818B-80C6D0FE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43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rPr>
              <a:t>A → FFT2 → fftshift → máscara → IFFT2 → A_f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1D9AA-341E-451D-9A43-5355A42A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• fftshift posiciona a frequência zero no centro para visualização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• Máscaras passa-baixa suavizam ruído e também removem detalhes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• Compressão mantém coeficientes relevantes e mede a perda visual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670D5-554A-4A7E-8D85-A40689F8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09900"/>
            <a:ext cx="3552825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FFF4E-0DE9-4111-86F0-6667342D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76600"/>
            <a:ext cx="2981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279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279F7"/>
                </a:solidFill>
                <a:latin typeface="DejaVu Sans"/>
                <a:ea typeface="DejaVu Sans"/>
                <a:cs typeface="DejaVu Sans"/>
              </a:rPr>
              <a:t>COMPROMISSO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DF95E-F8EC-4325-9D81-013437F7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14750"/>
            <a:ext cx="29813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menos coeficientes</a:t>
            </a:r>
          </a:p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↕</a:t>
            </a:r>
          </a:p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mais perda visual</a:t>
            </a:r>
          </a:p>
        </p:txBody>
      </p:sp>
    </p:spTree>
    <p:extLst>
      <p:ext uri="{BB962C8B-B14F-4D97-AF65-F5344CB8AC3E}">
        <p14:creationId xmlns:p14="http://schemas.microsoft.com/office/powerpoint/2010/main" val="14161259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D56B7-DA9C-4C4C-9541-3D5C05F6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6E4CF-D213-4012-9A5A-0A9AAAE9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APLICAÇÃO EM VÍDEO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55243-840A-4419-B67B-81DFCA5D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Transformações e correlação em vídeo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C0420-7ECB-458B-A81E-2229016F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D9AC6-342A-4F3F-A312-163DDFA0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Responsável: Jasmine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BDC3B-0F45-49AD-B096-73830827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14 /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18CE3-4180-4251-992A-59E122A7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COMPRESSÃO POR BLOCOS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2C2BE-43D4-4F46-B4F6-339B35F4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JPEG usa DCT em blocos 8 × 8. H.264/AVC e H.265/HEVC usam transformações inteiras inspiradas na DCT, além de predição e quantização.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99756-7E45-4533-885E-65BD7B80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79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279F7"/>
                </a:solidFill>
                <a:latin typeface="DejaVu Sans"/>
                <a:ea typeface="DejaVu Sans"/>
                <a:cs typeface="DejaVu Sans"/>
              </a:rPr>
              <a:t>CORRELAÇÃO NO DOMÍNIO ESPECTRAL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E5B98-8E50-4CED-AA15-9F63E3EB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5029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7B35E-84E8-4C52-B538-32649E1B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648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rPr>
              <a:t>f ⋆ g = IFFT( FFT(f)* ⊙ FFT(g) 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C6160-D9B2-4994-ABB2-8FFBD950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 FFT pode acelerar alinhamento e estimação de deslocamento em métodos baseados em correlação.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1662B-628C-4B69-B88D-AD744CCC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D16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D166"/>
                </a:solidFill>
                <a:latin typeface="DejaVu Sans"/>
                <a:ea typeface="DejaVu Sans"/>
                <a:cs typeface="DejaVu Sans"/>
              </a:rPr>
              <a:t>DCT e FFT são transformações relacionadas, mas não são a mesma transformação.</a:t>
            </a:r>
          </a:p>
        </p:txBody>
      </p:sp>
    </p:spTree>
    <p:extLst>
      <p:ext uri="{BB962C8B-B14F-4D97-AF65-F5344CB8AC3E}">
        <p14:creationId xmlns:p14="http://schemas.microsoft.com/office/powerpoint/2010/main" val="1536928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70D81-50FF-41F3-AF88-407701BB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24B42-F1C2-452E-85A1-8FA3B7EA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SÍNTESE DE APLICAÇÕES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D784B-955D-482B-A21A-71A6381D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Impacto tecnológico da FFT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92F11-A440-450C-ACA0-F9F236E3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78061-E879-4405-8388-BB6ACF1D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Responsável: Grupo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E41D9-3CCC-4723-A134-21A0A1C9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15 /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F512B-D71B-4473-86A7-322C7A07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COMUNICAÇÕES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6B125-BB02-4DE4-944E-5E3816FE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OFDM usa subportadoras ortogonais em sistemas digitais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C7C6B-91CA-41A2-A0F8-9F456F04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71650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6A4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42D6A4"/>
                </a:solidFill>
                <a:latin typeface="DejaVu Sans"/>
                <a:ea typeface="DejaVu Sans"/>
                <a:cs typeface="DejaVu Sans"/>
              </a:rPr>
              <a:t>MEDICINA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DCE51-92E0-433D-9F73-AA240744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 MRI reconstrói imagens a partir de dados no espaço 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5DFFA-A691-4A40-97EE-019B84AA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279F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279F7"/>
                </a:solidFill>
                <a:latin typeface="DejaVu Sans"/>
                <a:ea typeface="DejaVu Sans"/>
                <a:cs typeface="DejaVu Sans"/>
              </a:rPr>
              <a:t>COMPUTAÇÃO CIENTÍFICA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41DC6-11A6-42C4-A0DB-86137D33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Métodos espectrais aceleram convoluções e alguns problemas numéricos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209FC-D14A-4DF8-B5FF-4F9B16C1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D16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D166"/>
                </a:solidFill>
                <a:latin typeface="DejaVu Sans"/>
                <a:ea typeface="DejaVu Sans"/>
                <a:cs typeface="DejaVu Sans"/>
              </a:rPr>
              <a:t>MÍDIA DIGITAL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2BFA1-4F70-4F55-A5A5-C3FA4133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76725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Áudio, imagem e vídeo exploram representações em frequência</a:t>
            </a:r>
          </a:p>
        </p:txBody>
      </p:sp>
    </p:spTree>
    <p:extLst>
      <p:ext uri="{BB962C8B-B14F-4D97-AF65-F5344CB8AC3E}">
        <p14:creationId xmlns:p14="http://schemas.microsoft.com/office/powerpoint/2010/main" val="11082366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6282E-0BE2-4486-9BF9-54FAE4DE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B3968-182C-48D0-8D8E-BE251B16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ENTREGA DO CÓDIGO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73510-4C48-453D-877C-5FBACB8D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Repositório e reprodutibilidade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A0902-6FF8-4360-A864-A28951A2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05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56833-148E-483D-B68A-E958A04E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Responsável: Jasmine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16432-E7C4-4614-8CDE-D4187693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389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AAB7C9"/>
                </a:solidFill>
                <a:latin typeface="DejaVu Sans Mono"/>
                <a:ea typeface="DejaVu Sans Mono"/>
                <a:cs typeface="DejaVu Sans Mono"/>
              </a:rPr>
              <a:t>16 /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AC1A1-8FAF-4296-BC4D-84FBC989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C9F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C9F0"/>
                </a:solidFill>
                <a:latin typeface="DejaVu Sans"/>
                <a:ea typeface="DejaVu Sans"/>
                <a:cs typeface="DejaVu Sans"/>
              </a:rPr>
              <a:t>ESTRUTURA PROPOSTA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D778E-4CBF-40EC-BD83-CD29934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38180-FD64-4892-B9F3-AD174B93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381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algebra-linear-fft/</a:t>
            </a:r>
          </a:p>
          <a:p xmlns:a="http://schemas.openxmlformats.org/drawingml/2006/main">
            <a:pPr algn="ctr">
              <a:def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├ 01_dft_vs_fft.py</a:t>
            </a:r>
          </a:p>
          <a:p xmlns:a="http://schemas.openxmlformats.org/drawingml/2006/main">
            <a:pPr algn="ctr">
              <a:def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├ 02_audio_filtering.py</a:t>
            </a:r>
          </a:p>
          <a:p xmlns:a="http://schemas.openxmlformats.org/drawingml/2006/main">
            <a:pPr algn="ctr">
              <a:def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├ 03_image_2dfft.py</a:t>
            </a:r>
          </a:p>
          <a:p xmlns:a="http://schemas.openxmlformats.org/drawingml/2006/main">
            <a:pPr algn="ctr">
              <a:def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└ README.md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A8093-C598-4614-A581-ABA0D335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79F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279F7"/>
                </a:solidFill>
                <a:latin typeface="DejaVu Sans"/>
                <a:ea typeface="DejaVu Sans"/>
                <a:cs typeface="DejaVu Sans"/>
              </a:rPr>
              <a:t>ANTES DA ENTREGA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FCDE8-ADEA-44EB-93C8-905BA4CA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50292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• Executar todos os scripts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• Registrar ambiente e dependências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• Substituir estimativas pelos resultados medidos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• Publicar e testar o link do repositório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6B388-EF75-464D-9790-616CCE1F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502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github.com/jasmineggril/algebra-linear-fft</a:t>
            </a:r>
          </a:p>
          <a:p xmlns:a="http://schemas.openxmlformats.org/drawingml/2006/main">
            <a:pPr algn="ctr">
              <a:defRPr sz="1200" b="1"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(publicar e verificar antes da apresentação)</a:t>
            </a:r>
          </a:p>
        </p:txBody>
      </p:sp>
    </p:spTree>
    <p:extLst>
      <p:ext uri="{BB962C8B-B14F-4D97-AF65-F5344CB8AC3E}">
        <p14:creationId xmlns:p14="http://schemas.microsoft.com/office/powerpoint/2010/main" val="13738227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65A8F-47C0-43E4-B5E2-6495A14D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3F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6A133-A05A-4414-8DEA-DECAF130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Conclusão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B5807-89EB-404D-82A2-2F4BD53E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 FFT calcula a DFT explorando a estrutura da matriz de Fourier.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696ED-12AC-4D30-AFD2-06622C27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 fatoração reduz o custo de O(N²) para O(N log N).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CA24F-AD2B-4D58-9515-33F89C81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Áudio, imagens e vídeo usam representações espectrais para analisar, filtrar e comprimir dados.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752BF-7A12-4950-B721-5491FA6E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19625"/>
            <a:ext cx="628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0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50A6D-23D7-4C61-B266-B36A104B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9582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1">
                <a:solidFill>
                  <a:srgbClr val="42D6A4"/>
                </a:solidFill>
                <a:latin typeface="DejaVu Sans Mono"/>
                <a:ea typeface="DejaVu Sans Mono"/>
                <a:cs typeface="DejaVu Sans Mono"/>
              </a:rPr>
              <a:t>Fₙ*Fₙ = N Iₙ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41070-60DF-4693-BA2E-09CA8A62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279F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B279F7"/>
                </a:solidFill>
                <a:latin typeface="DejaVu Sans"/>
                <a:ea typeface="DejaVu Sans"/>
                <a:cs typeface="DejaVu Sans"/>
              </a:rPr>
              <a:t>Perguntas?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6101D-0E40-442B-BBBB-70B8E33C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817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AB7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AAB7C9"/>
                </a:solidFill>
                <a:latin typeface="DejaVu Sans"/>
                <a:ea typeface="DejaVu Sans"/>
                <a:cs typeface="DejaVu Sans"/>
              </a:rPr>
              <a:t>Estevão • Francisco • Jasmine</a:t>
            </a:r>
          </a:p>
        </p:txBody>
      </p:sp>
    </p:spTree>
    <p:extLst>
      <p:ext uri="{BB962C8B-B14F-4D97-AF65-F5344CB8AC3E}">
        <p14:creationId xmlns:p14="http://schemas.microsoft.com/office/powerpoint/2010/main" val="1998583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2026-09-10T15:41:39.3500000Z</dcterms:created>
  <dcterms:modified xsi:type="dcterms:W3CDTF">2026-09-10T15:41:39.3500000Z</dcterms:modified>
</coreProperties>
</file>